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 Count</c:v>
                </c:pt>
              </c:strCache>
            </c:strRef>
          </c:tx>
          <c:spPr>
            <a:solidFill>
              <a:srgbClr val="00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9E5D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CF2E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0D8E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7C5D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DB3C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5AA3B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ExploreiT</c:v>
                  </c:pt>
                  <c:pt idx="1">
                    <c:v>ISKCON</c:v>
                  </c:pt>
                  <c:pt idx="2">
                    <c:v>Vrikshit Fdn</c:v>
                  </c:pt>
                  <c:pt idx="3">
                    <c:v>I Gift Life</c:v>
                  </c:pt>
                  <c:pt idx="4">
                    <c:v>Akshaya Patra</c:v>
                  </c:pt>
                  <c:pt idx="5">
                    <c:v>SCOPE</c:v>
                  </c:pt>
                  <c:pt idx="6">
                    <c:v>Climate Reality</c:v>
                  </c:pt>
                  <c:pt idx="7">
                    <c:v>Poornam Eco</c:v>
                  </c:pt>
                  <c:pt idx="8">
                    <c:v>Anganwadi</c:v>
                  </c:pt>
                  <c:pt idx="9">
                    <c:v>Being Volunteer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2379</c:v>
                </c:pt>
                <c:pt idx="1">
                  <c:v>621</c:v>
                </c:pt>
                <c:pt idx="2">
                  <c:v>441</c:v>
                </c:pt>
                <c:pt idx="3">
                  <c:v>393</c:v>
                </c:pt>
                <c:pt idx="4">
                  <c:v>285</c:v>
                </c:pt>
                <c:pt idx="5">
                  <c:v>157</c:v>
                </c:pt>
                <c:pt idx="6">
                  <c:v>156</c:v>
                </c:pt>
                <c:pt idx="7">
                  <c:v>100</c:v>
                </c:pt>
                <c:pt idx="8">
                  <c:v>96</c:v>
                </c:pt>
                <c:pt idx="9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SDG 4 – Quality Education</c:v>
                </c:pt>
              </c:strCache>
            </c:strRef>
          </c:tx>
          <c:spPr>
            <a:solidFill>
              <a:srgbClr val="E11D48"/>
            </a:solidFill>
            <a:ln w="31750" cap="flat">
              <a:solidFill>
                <a:srgbClr val="E11D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11D48"/>
              </a:solidFill>
              <a:ln w="9525" cap="flat">
                <a:solidFill>
                  <a:srgbClr val="E11D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2020-21</c:v>
                  </c:pt>
                  <c:pt idx="1">
                    <c:v>2021-22</c:v>
                  </c:pt>
                  <c:pt idx="2">
                    <c:v>2022-23</c:v>
                  </c:pt>
                  <c:pt idx="3">
                    <c:v>2023-24</c:v>
                  </c:pt>
                  <c:pt idx="4">
                    <c:v>2024-25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48</c:v>
                </c:pt>
                <c:pt idx="2">
                  <c:v>51</c:v>
                </c:pt>
                <c:pt idx="3">
                  <c:v>54</c:v>
                </c:pt>
                <c:pt idx="4">
                  <c:v>56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SDG 17 – Partnerships</c:v>
                </c:pt>
              </c:strCache>
            </c:strRef>
          </c:tx>
          <c:spPr>
            <a:solidFill>
              <a:srgbClr val="1A2E5A"/>
            </a:solidFill>
            <a:ln w="31750" cap="flat">
              <a:solidFill>
                <a:srgbClr val="1A2E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2E5A"/>
              </a:solidFill>
              <a:ln w="9525" cap="flat">
                <a:solidFill>
                  <a:srgbClr val="1A2E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2020-21</c:v>
                  </c:pt>
                  <c:pt idx="1">
                    <c:v>2021-22</c:v>
                  </c:pt>
                  <c:pt idx="2">
                    <c:v>2022-23</c:v>
                  </c:pt>
                  <c:pt idx="3">
                    <c:v>2023-24</c:v>
                  </c:pt>
                  <c:pt idx="4">
                    <c:v>2024-25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24</c:v>
                </c:pt>
                <c:pt idx="2">
                  <c:v>28</c:v>
                </c:pt>
                <c:pt idx="3">
                  <c:v>31</c:v>
                </c:pt>
                <c:pt idx="4">
                  <c:v>35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SDG 3 – Good Health</c:v>
                </c:pt>
              </c:strCache>
            </c:strRef>
          </c:tx>
          <c:spPr>
            <a:solidFill>
              <a:srgbClr val="10B981"/>
            </a:solidFill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2020-21</c:v>
                  </c:pt>
                  <c:pt idx="1">
                    <c:v>2021-22</c:v>
                  </c:pt>
                  <c:pt idx="2">
                    <c:v>2022-23</c:v>
                  </c:pt>
                  <c:pt idx="3">
                    <c:v>2023-24</c:v>
                  </c:pt>
                  <c:pt idx="4">
                    <c:v>2024-25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16</c:v>
                </c:pt>
                <c:pt idx="2">
                  <c:v>18</c:v>
                </c:pt>
                <c:pt idx="3">
                  <c:v>20</c:v>
                </c:pt>
                <c:pt idx="4">
                  <c:v>22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SDG 13 – Climate Action</c:v>
                </c:pt>
              </c:strCache>
            </c:strRef>
          </c:tx>
          <c:spPr>
            <a:solidFill>
              <a:srgbClr val="D97706"/>
            </a:solidFill>
            <a:ln w="3175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2020-21</c:v>
                  </c:pt>
                  <c:pt idx="1">
                    <c:v>2021-22</c:v>
                  </c:pt>
                  <c:pt idx="2">
                    <c:v>2022-23</c:v>
                  </c:pt>
                  <c:pt idx="3">
                    <c:v>2023-24</c:v>
                  </c:pt>
                  <c:pt idx="4">
                    <c:v>2024-25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8</c:v>
                </c:pt>
                <c:pt idx="1">
                  <c:v>10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SDG 10 – Reduced Inequalities</c:v>
                </c:pt>
              </c:strCache>
            </c:strRef>
          </c:tx>
          <c:spPr>
            <a:solidFill>
              <a:srgbClr val="7C3AED"/>
            </a:solidFill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2020-21</c:v>
                  </c:pt>
                  <c:pt idx="1">
                    <c:v>2021-22</c:v>
                  </c:pt>
                  <c:pt idx="2">
                    <c:v>2022-23</c:v>
                  </c:pt>
                  <c:pt idx="3">
                    <c:v>2023-24</c:v>
                  </c:pt>
                  <c:pt idx="4">
                    <c:v>2024-25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5</c:v>
                </c:pt>
                <c:pt idx="1">
                  <c:v>8</c:v>
                </c:pt>
                <c:pt idx="2">
                  <c:v>9</c:v>
                </c:pt>
                <c:pt idx="3">
                  <c:v>11</c:v>
                </c:pt>
                <c:pt idx="4">
                  <c:v>13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94A3B8"/>
                    </a:solidFill>
                    <a:latin typeface="Arial"/>
                  </a:rPr>
                  <a:t>% of NGO Engagements</a:t>
                </a:r>
              </a:p>
            </c:rich>
          </c:tx>
          <c:layout/>
          <c:overlay val="0"/>
        </c:title>
        <c:numFmt formatCode="0\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Rank 1</c:v>
                </c:pt>
              </c:strCache>
            </c:strRef>
          </c:tx>
          <c:spPr>
            <a:solidFill>
              <a:srgbClr val="00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ExploreiT</c:v>
                  </c:pt>
                  <c:pt idx="1">
                    <c:v>ISKCON</c:v>
                  </c:pt>
                  <c:pt idx="2">
                    <c:v>Vrikshit Fdn</c:v>
                  </c:pt>
                  <c:pt idx="3">
                    <c:v>I Gift Life</c:v>
                  </c:pt>
                  <c:pt idx="4">
                    <c:v>SCOPE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Rank 2</c:v>
                </c:pt>
              </c:strCache>
            </c:strRef>
          </c:tx>
          <c:spPr>
            <a:solidFill>
              <a:srgbClr val="7CB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ExploreiT</c:v>
                  </c:pt>
                  <c:pt idx="1">
                    <c:v>ISKCON</c:v>
                  </c:pt>
                  <c:pt idx="2">
                    <c:v>Vrikshit Fdn</c:v>
                  </c:pt>
                  <c:pt idx="3">
                    <c:v>I Gift Life</c:v>
                  </c:pt>
                  <c:pt idx="4">
                    <c:v>SCOPE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Rank 3</c:v>
                </c:pt>
              </c:strCache>
            </c:strRef>
          </c:tx>
          <c:spPr>
            <a:solidFill>
              <a:srgbClr val="B0D8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ExploreiT</c:v>
                  </c:pt>
                  <c:pt idx="1">
                    <c:v>ISKCON</c:v>
                  </c:pt>
                  <c:pt idx="2">
                    <c:v>Vrikshit Fdn</c:v>
                  </c:pt>
                  <c:pt idx="3">
                    <c:v>I Gift Life</c:v>
                  </c:pt>
                  <c:pt idx="4">
                    <c:v>SCOPE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0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4A5C">
              <a:alpha val="60000"/>
            </a:srgbClr>
          </a:solidFill>
          <a:ln w="12700">
            <a:solidFill>
              <a:srgbClr val="004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03048">
              <a:alpha val="60000"/>
            </a:srgbClr>
          </a:solidFill>
          <a:ln w="12700">
            <a:solidFill>
              <a:srgbClr val="0030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INTERNATIONAL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Learning Data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Mapping · SDG Trends · Campus Insights · Stakeholder Satisfaction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3200400" cy="45720"/>
          </a:xfrm>
          <a:prstGeom prst="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Rushi Badgujar  </a:t>
            </a:r>
            <a:pPr indent="0" marL="0">
              <a:buNone/>
            </a:pPr>
            <a:r>
              <a:rPr lang="en-US" sz="1300" b="1" dirty="0">
                <a:solidFill>
                  <a:srgbClr val="B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Tools: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Power BI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Supervisor: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Shirin Shikalgar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77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89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International University mandates a Service Learning (SL) programme across all its institutes, connecting students with NGOs to address real community challenges.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analyses 5 years of SL data (2020–21 to 2024–25) covering 9,192 students across 14 institutes in Pune, Noida, Nagpur, Bengaluru &amp; Hyderabad.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389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28032" y="1892808"/>
            <a:ext cx="201168" cy="201168"/>
          </a:xfrm>
          <a:prstGeom prst="ellipse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892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84064" y="18470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NGO to relevant UN SDGs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28032" y="2368296"/>
            <a:ext cx="201168" cy="201168"/>
          </a:xfrm>
          <a:prstGeom prst="ellipse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368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84064" y="23225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10 most selected NGOs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28032" y="2843784"/>
            <a:ext cx="201168" cy="201168"/>
          </a:xfrm>
          <a:prstGeom prst="ellipse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843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84064" y="27980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SDG trends over 5 years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28032" y="3319272"/>
            <a:ext cx="201168" cy="201168"/>
          </a:xfrm>
          <a:prstGeom prst="ellipse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3319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84064" y="32735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NGO rank distribution by campus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28032" y="3794760"/>
            <a:ext cx="201168" cy="201168"/>
          </a:xfrm>
          <a:prstGeom prst="ellipse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3794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84064" y="3749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SDG focus heatmap by campus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28032" y="4270248"/>
            <a:ext cx="201168" cy="201168"/>
          </a:xfrm>
          <a:prstGeom prst="ellipse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42702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84064" y="4224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raw vs analysed datasets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10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265176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Institutes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Years Available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5A"/>
                          </a:solidFill>
                        </a:rPr>
                        <a:t>Business &amp; Management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SCMS-Pune, SCMS-Noida, SCMS-Nagpur, SCMS-Bengaluru, SCMS-Hyderabad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2020-21 → 2024-25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5A"/>
                          </a:solidFill>
                        </a:rPr>
                        <a:t>Science, Engineering &amp; Tech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SIT-Pune, SIT-Nagpur, SICSR, E&amp;TC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2020-21 → 2024-25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5A"/>
                          </a:solidFill>
                        </a:rPr>
                        <a:t>Health Sciences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SCON, SIHS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2020-21 → 2024-25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5A"/>
                          </a:solidFill>
                        </a:rPr>
                        <a:t>Arts &amp; Humanities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SID, SSPAD, SSVAP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2021-22 → 2024-25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E5A"/>
                          </a:solidFill>
                        </a:rPr>
                        <a:t>Social Sciences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SSLA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2021-22 → 2024-25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4160520"/>
            <a:ext cx="64008" cy="1234440"/>
          </a:xfrm>
          <a:prstGeom prst="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2519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9,192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594360" y="4892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(2021–2025)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10128" y="416052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10128" y="4160520"/>
            <a:ext cx="64008" cy="12344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47288" y="42519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3447288" y="4892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Covered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India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63056" y="416052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63056" y="416052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0216" y="42519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6300216" y="4892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2020-21 to 2024-25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MY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 &amp;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2697480" cy="64008"/>
          </a:xfrm>
          <a:prstGeom prst="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356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183794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2203704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year-wise Excel files from Google Drive (2020-21 to 2024-25). Understood folder structure: Raw Data vs Analysed Data.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325880"/>
            <a:ext cx="2697480" cy="640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4356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47288" y="183794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47288" y="2203704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raw datasets vs pre-analysed files. Verified student counts, institute categorisation, and NGO name consistency.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4356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27648" y="183794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→ SDG Mapping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27648" y="2203704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and algorithmically mapped each NGO to relevant UN SDGs using Python. Built a reusable reference mapping table.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3756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4472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" y="384962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4215384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frequency analysis for NGO selection. Computed SDG trends year-on-year. Analysed rank distribution across campuses using Python (pandas, matplotlib).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33375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7560" y="3337560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34472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447288" y="384962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447288" y="4215384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interactive dashboards in Power BI. Created SDG heatmaps, bar charts, and trend lines. Embedded into stakeholder-ready reports.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53328" y="3337560"/>
            <a:ext cx="2697480" cy="1828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72200" y="3456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3858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 (pandas, matplotlib, seaborn)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72200" y="41513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 BI  (interactive dashboards)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72200" y="44439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Google Drive  (data management)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72200" y="4736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Excel  (raw data source)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SDG MAPPING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→ SDG Mapping Framework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NGO was mapped to one or more of the 17 UN Sustainable Development Goals based on its stated mission and programme activities.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72491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64008" cy="13898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87452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SDG 4, 17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25880" y="1874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ExploreiT / SICSR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" y="2221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  ·  Partnerships for Goals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" y="26426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Placeholder: SDG icon visual 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10128" y="1783080"/>
            <a:ext cx="272491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1783080"/>
            <a:ext cx="64008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56432" y="187452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SDG 2,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78808" y="1874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ISKCON / Akshaya Patra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56432" y="2221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Hunger  ·  Good Health &amp; Well-being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56432" y="26426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Placeholder: SDG icon visual 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63056" y="1783080"/>
            <a:ext cx="272491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783080"/>
            <a:ext cx="64008" cy="1389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87452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SDG 13,15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31736" y="1874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Vrikshit / Jeevitnadi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2219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  ·  Life on Land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26426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Placeholder: SDG icon visual 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272491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291840"/>
            <a:ext cx="64008" cy="1389888"/>
          </a:xfrm>
          <a:prstGeom prst="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338328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3383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SDG 3, 10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325880" y="33832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/ Being Volunteer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" y="37307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 ·  Reduced Inequalities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3504" y="41513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Placeholder: SDG icon visual 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10128" y="3291840"/>
            <a:ext cx="272491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10128" y="3291840"/>
            <a:ext cx="64008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56432" y="338328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56432" y="3383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SDG 3, 17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78808" y="33832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Gift Life / SUHRC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56432" y="37307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 ·  Partnerships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56432" y="41513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Placeholder: SDG icon visual ]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63056" y="3291840"/>
            <a:ext cx="272491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63056" y="3291840"/>
            <a:ext cx="64008" cy="138988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338328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3383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SDG 1, 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031736" y="33832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Hood Army / CRY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09360" y="37307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Poverty  ·  Zero Hunger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309360" y="41513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Placeholder: SDG icon visual 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NGO FREQUENCY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 Selected NGOs (2020–2025)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10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234440"/>
          <a:ext cx="56692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234440"/>
            <a:ext cx="24231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35331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146304" cy="146304"/>
          </a:xfrm>
          <a:prstGeom prst="ellipse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01968" y="17922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ExploreiT dominates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01968" y="2029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by 2,379 students — primarily at SCMS-Pune (5 consecutive years)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0" y="2578608"/>
            <a:ext cx="146304" cy="146304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01968" y="2542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ISKCON steady riser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01968" y="27797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most popular across SIT-Pune, SID; consistently top-ranked in Arts &amp; Sci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0" y="332841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01968" y="3291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NGOs growing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01968" y="35295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Vrikshit, Poornam Eco, Climate Reality show upward trend from 2022 onwards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0" y="4078224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1968" y="4041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NGOs active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601968" y="42793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Gift Life, SCOPE dominate Health Sciences &amp; SIT categories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 Replace with your Power BI chart 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SDG TRENDS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SDG Trends Over 5 Years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10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207008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32588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309360" y="1325880"/>
            <a:ext cx="64008" cy="10972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55664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56%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55664" y="176479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NGOs dominant every year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09360" y="256032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09360" y="2560320"/>
            <a:ext cx="64008" cy="10972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55664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8952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35%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55664" y="299923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University-NGO partnerships growing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09360" y="379476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3794760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55664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89520" y="3886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20%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55664" y="423367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% growth — climate awareness rising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82803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 Replace with your Power BI trend chart 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RANK DISTRIBUTION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Distribution – Top 5 NGOs by Campus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times each NGO appeared as Rank 1, Rank 2, or Rank 3 across all campus-year combinations: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69164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691640"/>
          <a:ext cx="2743200" cy="3063240"/>
        </p:xfrm>
        <a:graphic>
          <a:graphicData uri="http://schemas.openxmlformats.org/drawingml/2006/table">
            <a:tbl>
              <a:tblPr/>
              <a:tblGrid>
                <a:gridCol w="868680"/>
                <a:gridCol w="64008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NGO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#1 Rank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Campus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ExploreiT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A8C"/>
                          </a:solidFill>
                        </a:rPr>
                        <a:t>8×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SCMS-Pune (all years), SICSR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ISKCON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A8C"/>
                          </a:solidFill>
                        </a:rPr>
                        <a:t>6×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SIT-Pune, SID, SICSR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Vrikshit Fdn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A8C"/>
                          </a:solidFill>
                        </a:rPr>
                        <a:t>5×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SCMS-Noida (multiple years)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I Gift Life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A8C"/>
                          </a:solidFill>
                        </a:rPr>
                        <a:t>2×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SIHS, SIT-Pune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SCOPE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A8C"/>
                          </a:solidFill>
                        </a:rPr>
                        <a:t>2×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SIHS, SSVAP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846320"/>
            <a:ext cx="5715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 Replace with your Power BI chart ]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92608"/>
          </a:xfrm>
          <a:prstGeom prst="round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HEATMAP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Focus Areas by Campus (Heatmap)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shading indicates stronger SDG focus based on NGO selection frequency at that campus.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64208"/>
          <a:ext cx="6583680" cy="3246120"/>
        </p:xfrm>
        <a:graphic>
          <a:graphicData uri="http://schemas.openxmlformats.org/drawingml/2006/table">
            <a:tbl>
              <a:tblPr/>
              <a:tblGrid>
                <a:gridCol w="1371600"/>
                <a:gridCol w="1042416"/>
                <a:gridCol w="1042416"/>
                <a:gridCol w="1042416"/>
                <a:gridCol w="1042416"/>
                <a:gridCol w="1042416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Campus / SDG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SDG 4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Education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SDG 17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Partnership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SDG 3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Health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SDG 13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Climate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SDG 10</a:t>
                      </a:r>
                      <a:endParaRPr lang="en-US" sz="850" dirty="0"/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Equality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E5A"/>
                          </a:solidFill>
                        </a:rPr>
                        <a:t>SCMS-Pune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E5A"/>
                          </a:solidFill>
                        </a:rPr>
                        <a:t>SCMS-Noida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A3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A3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A3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8E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E5A"/>
                          </a:solidFill>
                        </a:rPr>
                        <a:t>SIT-Pune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A3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A3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A3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8E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E5A"/>
                          </a:solidFill>
                        </a:rPr>
                        <a:t>SICSR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8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A3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E5A"/>
                          </a:solidFill>
                        </a:rPr>
                        <a:t>SCON/SIHS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8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8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A3B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E5A"/>
                          </a:solidFill>
                        </a:rPr>
                        <a:t>SID/SSVAP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A3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8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8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E5A"/>
                          </a:solidFill>
                        </a:rPr>
                        <a:t>SSLA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8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5A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8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A3B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1920240"/>
            <a:ext cx="27432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71232" y="1920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Focus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23760" y="2487168"/>
            <a:ext cx="274320" cy="256032"/>
          </a:xfrm>
          <a:prstGeom prst="rect">
            <a:avLst/>
          </a:prstGeom>
          <a:solidFill>
            <a:srgbClr val="5BA3B9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71232" y="2487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223760" y="3054096"/>
            <a:ext cx="274320" cy="256032"/>
          </a:xfrm>
          <a:prstGeom prst="rect">
            <a:avLst/>
          </a:prstGeom>
          <a:solidFill>
            <a:srgbClr val="B0D8E4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71232" y="30540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223760" y="3621024"/>
            <a:ext cx="274320" cy="256032"/>
          </a:xfrm>
          <a:prstGeom prst="rect">
            <a:avLst/>
          </a:prstGeom>
          <a:solidFill>
            <a:srgbClr val="F7FBF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71232" y="3621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Minimal/None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22376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 Replace with your Power BI heatmap 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04A5C">
              <a:alpha val="60000"/>
            </a:srgbClr>
          </a:solidFill>
          <a:ln w="12700">
            <a:solidFill>
              <a:srgbClr val="004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03048">
              <a:alpha val="60000"/>
            </a:srgbClr>
          </a:solidFill>
          <a:ln w="12700">
            <a:solidFill>
              <a:srgbClr val="0030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4114800" cy="1234440"/>
          </a:xfrm>
          <a:prstGeom prst="rect">
            <a:avLst/>
          </a:prstGeom>
          <a:solidFill>
            <a:srgbClr val="153050"/>
          </a:solidFill>
          <a:ln w="12700">
            <a:solidFill>
              <a:srgbClr val="1E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24712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&amp; 17 Dominate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4712" y="21031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 and Partnerships account for &gt;55% of all NGO engagements — consistent across years.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664208"/>
            <a:ext cx="4114800" cy="1234440"/>
          </a:xfrm>
          <a:prstGeom prst="rect">
            <a:avLst/>
          </a:prstGeom>
          <a:solidFill>
            <a:srgbClr val="153050"/>
          </a:solidFill>
          <a:ln w="12700">
            <a:solidFill>
              <a:srgbClr val="1E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68112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 Rising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68112" y="21031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 saw the highest growth rate — from 8% (2020-21) to 20% (2024-25), driven by SCMS-Noida &amp; SICSR.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054096"/>
            <a:ext cx="4114800" cy="1234440"/>
          </a:xfrm>
          <a:prstGeom prst="rect">
            <a:avLst/>
          </a:prstGeom>
          <a:solidFill>
            <a:srgbClr val="153050"/>
          </a:solidFill>
          <a:ln w="12700">
            <a:solidFill>
              <a:srgbClr val="1E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1272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24712" y="31272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ExploreiT: Most Popular NGO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34930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#1 across 8 campus-year combinations, especially dominant in Business &amp; Management faculties.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054096"/>
            <a:ext cx="4114800" cy="1234440"/>
          </a:xfrm>
          <a:prstGeom prst="rect">
            <a:avLst/>
          </a:prstGeom>
          <a:solidFill>
            <a:srgbClr val="153050"/>
          </a:solidFill>
          <a:ln w="12700">
            <a:solidFill>
              <a:srgbClr val="1E4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31272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68112" y="31272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Campus-Specific Patterns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68112" y="34930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campuses (SCON, SIHS) focus on SDG 3; Arts campuses (SID) lean toward SDG 4 &amp; SDG 17.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53712"/>
            <a:ext cx="8138160" cy="54864"/>
          </a:xfrm>
          <a:prstGeom prst="rect">
            <a:avLst/>
          </a:prstGeom>
          <a:solidFill>
            <a:srgbClr val="007A8C"/>
          </a:solidFill>
          <a:ln w="12700">
            <a:solidFill>
              <a:srgbClr val="007A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634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</a:t>
            </a:r>
            <a:pPr indent="0" marL="0">
              <a:buNone/>
            </a:pPr>
            <a:r>
              <a:rPr lang="en-US" sz="1100" dirty="0">
                <a:solidFill>
                  <a:srgbClr val="B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Rushi Badgujar  |  Summer Internship 2026  |  Symbiosis International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Learning Data Analysis – Internship Presentation</dc:title>
  <dc:subject>PptxGenJS Presentation</dc:subject>
  <dc:creator>Rushi Badgujar</dc:creator>
  <cp:lastModifiedBy>Rushi Badgujar</cp:lastModifiedBy>
  <cp:revision>1</cp:revision>
  <dcterms:created xsi:type="dcterms:W3CDTF">2026-04-27T02:17:21Z</dcterms:created>
  <dcterms:modified xsi:type="dcterms:W3CDTF">2026-04-27T02:17:21Z</dcterms:modified>
</cp:coreProperties>
</file>